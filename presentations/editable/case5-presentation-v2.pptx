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Abobaker Baobaid" userId="476453b4-63df-4460-990c-6f3e67423d98" providerId="ADAL" clId="{EDBAE53C-5DFB-5552-9B0A-1BCF2B043212}"/>
    <pc:docChg chg="undo custSel modSld">
      <pc:chgData name="Mohammed Abobaker Baobaid" userId="476453b4-63df-4460-990c-6f3e67423d98" providerId="ADAL" clId="{EDBAE53C-5DFB-5552-9B0A-1BCF2B043212}" dt="2026-04-01T08:47:22.308" v="65" actId="1035"/>
      <pc:docMkLst>
        <pc:docMk/>
      </pc:docMkLst>
      <pc:sldChg chg="modSp mod">
        <pc:chgData name="Mohammed Abobaker Baobaid" userId="476453b4-63df-4460-990c-6f3e67423d98" providerId="ADAL" clId="{EDBAE53C-5DFB-5552-9B0A-1BCF2B043212}" dt="2026-04-01T08:46:51.891" v="33" actId="1036"/>
        <pc:sldMkLst>
          <pc:docMk/>
          <pc:sldMk cId="0" sldId="257"/>
        </pc:sldMkLst>
        <pc:spChg chg="mod">
          <ac:chgData name="Mohammed Abobaker Baobaid" userId="476453b4-63df-4460-990c-6f3e67423d98" providerId="ADAL" clId="{EDBAE53C-5DFB-5552-9B0A-1BCF2B043212}" dt="2026-04-01T08:46:51.891" v="33" actId="10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Mohammed Abobaker Baobaid" userId="476453b4-63df-4460-990c-6f3e67423d98" providerId="ADAL" clId="{EDBAE53C-5DFB-5552-9B0A-1BCF2B043212}" dt="2026-04-01T08:46:43.374" v="22" actId="1036"/>
        <pc:sldMkLst>
          <pc:docMk/>
          <pc:sldMk cId="0" sldId="258"/>
        </pc:sldMkLst>
        <pc:spChg chg="mod">
          <ac:chgData name="Mohammed Abobaker Baobaid" userId="476453b4-63df-4460-990c-6f3e67423d98" providerId="ADAL" clId="{EDBAE53C-5DFB-5552-9B0A-1BCF2B043212}" dt="2026-04-01T08:46:43.374" v="22" actId="10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Mohammed Abobaker Baobaid" userId="476453b4-63df-4460-990c-6f3e67423d98" providerId="ADAL" clId="{EDBAE53C-5DFB-5552-9B0A-1BCF2B043212}" dt="2026-04-01T08:46:35.684" v="12" actId="1036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Mohammed Abobaker Baobaid" userId="476453b4-63df-4460-990c-6f3e67423d98" providerId="ADAL" clId="{EDBAE53C-5DFB-5552-9B0A-1BCF2B043212}" dt="2026-04-01T08:47:04.516" v="41" actId="1035"/>
        <pc:sldMkLst>
          <pc:docMk/>
          <pc:sldMk cId="0" sldId="259"/>
        </pc:sldMkLst>
        <pc:spChg chg="mod">
          <ac:chgData name="Mohammed Abobaker Baobaid" userId="476453b4-63df-4460-990c-6f3e67423d98" providerId="ADAL" clId="{EDBAE53C-5DFB-5552-9B0A-1BCF2B043212}" dt="2026-04-01T08:47:04.516" v="41" actId="1035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Mohammed Abobaker Baobaid" userId="476453b4-63df-4460-990c-6f3e67423d98" providerId="ADAL" clId="{EDBAE53C-5DFB-5552-9B0A-1BCF2B043212}" dt="2026-04-01T08:47:10.777" v="49" actId="1035"/>
        <pc:sldMkLst>
          <pc:docMk/>
          <pc:sldMk cId="0" sldId="260"/>
        </pc:sldMkLst>
        <pc:spChg chg="mod">
          <ac:chgData name="Mohammed Abobaker Baobaid" userId="476453b4-63df-4460-990c-6f3e67423d98" providerId="ADAL" clId="{EDBAE53C-5DFB-5552-9B0A-1BCF2B043212}" dt="2026-04-01T08:47:10.777" v="49" actId="1035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Mohammed Abobaker Baobaid" userId="476453b4-63df-4460-990c-6f3e67423d98" providerId="ADAL" clId="{EDBAE53C-5DFB-5552-9B0A-1BCF2B043212}" dt="2026-04-01T08:47:16.053" v="57" actId="1035"/>
        <pc:sldMkLst>
          <pc:docMk/>
          <pc:sldMk cId="0" sldId="261"/>
        </pc:sldMkLst>
        <pc:spChg chg="mod">
          <ac:chgData name="Mohammed Abobaker Baobaid" userId="476453b4-63df-4460-990c-6f3e67423d98" providerId="ADAL" clId="{EDBAE53C-5DFB-5552-9B0A-1BCF2B043212}" dt="2026-04-01T08:47:16.053" v="57" actId="1035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Mohammed Abobaker Baobaid" userId="476453b4-63df-4460-990c-6f3e67423d98" providerId="ADAL" clId="{EDBAE53C-5DFB-5552-9B0A-1BCF2B043212}" dt="2026-04-01T08:47:22.308" v="65" actId="1035"/>
        <pc:sldMkLst>
          <pc:docMk/>
          <pc:sldMk cId="0" sldId="262"/>
        </pc:sldMkLst>
        <pc:spChg chg="mod">
          <ac:chgData name="Mohammed Abobaker Baobaid" userId="476453b4-63df-4460-990c-6f3e67423d98" providerId="ADAL" clId="{EDBAE53C-5DFB-5552-9B0A-1BCF2B043212}" dt="2026-04-01T08:47:22.308" v="65" actId="1035"/>
          <ac:spMkLst>
            <pc:docMk/>
            <pc:sldMk cId="0" sldId="262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900" b="0" i="0" u="none" strike="noStrike">
                <a:solidFill>
                  <a:srgbClr val="000000"/>
                </a:solidFill>
                <a:latin typeface="Arial"/>
              </a:rPr>
              <a:t>Original area — very skewed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0–50</c:v>
                </c:pt>
                <c:pt idx="1">
                  <c:v>50–200</c:v>
                </c:pt>
                <c:pt idx="2">
                  <c:v>200–500</c:v>
                </c:pt>
                <c:pt idx="3">
                  <c:v>500+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</c:v>
                </c:pt>
                <c:pt idx="1">
                  <c:v>12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42-E34B-B342-57B26BFCB7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6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6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900" b="0" i="0" u="none" strike="noStrike">
                <a:solidFill>
                  <a:srgbClr val="000000"/>
                </a:solidFill>
                <a:latin typeface="Arial"/>
              </a:rPr>
              <a:t>log(area+1) — much better!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</c:v>
                </c:pt>
              </c:strCache>
            </c:strRef>
          </c:tx>
          <c:spPr>
            <a:solidFill>
              <a:srgbClr val="3D6BE4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260</c:v>
                </c:pt>
                <c:pt idx="1">
                  <c:v>48</c:v>
                </c:pt>
                <c:pt idx="2">
                  <c:v>45</c:v>
                </c:pt>
                <c:pt idx="3">
                  <c:v>50</c:v>
                </c:pt>
                <c:pt idx="4">
                  <c:v>27</c:v>
                </c:pt>
                <c:pt idx="5">
                  <c:v>16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ED-A341-A16D-174E832670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6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6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950" b="0" i="0" u="none" strike="noStrike">
                <a:solidFill>
                  <a:srgbClr val="000000"/>
                </a:solidFill>
                <a:latin typeface="Arial"/>
              </a:rPr>
              <a:t>Variance Inflation Factors (VIF) — all values below 5 ✓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VIF</c:v>
                </c:pt>
              </c:strCache>
            </c:strRef>
          </c:tx>
          <c:spPr>
            <a:solidFill>
              <a:srgbClr val="3D6BE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4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FFMC</c:v>
                </c:pt>
                <c:pt idx="1">
                  <c:v>DMC</c:v>
                </c:pt>
                <c:pt idx="2">
                  <c:v>DC</c:v>
                </c:pt>
                <c:pt idx="3">
                  <c:v>ISI</c:v>
                </c:pt>
                <c:pt idx="4">
                  <c:v>temp</c:v>
                </c:pt>
                <c:pt idx="5">
                  <c:v>RH</c:v>
                </c:pt>
                <c:pt idx="6">
                  <c:v>wind</c:v>
                </c:pt>
                <c:pt idx="7">
                  <c:v>rain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1.7</c:v>
                </c:pt>
                <c:pt idx="1">
                  <c:v>2.33</c:v>
                </c:pt>
                <c:pt idx="2">
                  <c:v>2.08</c:v>
                </c:pt>
                <c:pt idx="3">
                  <c:v>1.58</c:v>
                </c:pt>
                <c:pt idx="4">
                  <c:v>2.66</c:v>
                </c:pt>
                <c:pt idx="5">
                  <c:v>1.9</c:v>
                </c:pt>
                <c:pt idx="6">
                  <c:v>1.1399999999999999</c:v>
                </c:pt>
                <c:pt idx="7">
                  <c:v>1.04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CD-2642-B987-A8DAF0D085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6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6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950" b="0" i="0" u="none" strike="noStrike">
                <a:solidFill>
                  <a:srgbClr val="000000"/>
                </a:solidFill>
                <a:latin typeface="Arial"/>
              </a:rPr>
              <a:t>AIC Comparison (lower = better fit)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AIC</c:v>
                </c:pt>
              </c:strCache>
            </c:strRef>
          </c:tx>
          <c:spPr>
            <a:solidFill>
              <a:srgbClr val="3D6BE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72A-894A-AFF9-5D994491603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72A-894A-AFF9-5D994491603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72A-894A-AFF9-5D9944916036}"/>
              </c:ext>
            </c:extLst>
          </c:dPt>
          <c:dPt>
            <c:idx val="3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72A-894A-AFF9-5D994491603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4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Full
Model</c:v>
                </c:pt>
                <c:pt idx="1">
                  <c:v>Time
Controls</c:v>
                </c:pt>
                <c:pt idx="2">
                  <c:v>Interaction
Model</c:v>
                </c:pt>
                <c:pt idx="3">
                  <c:v>Stepwise
(best)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1823</c:v>
                </c:pt>
                <c:pt idx="1">
                  <c:v>1830</c:v>
                </c:pt>
                <c:pt idx="2">
                  <c:v>1824</c:v>
                </c:pt>
                <c:pt idx="3">
                  <c:v>1816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72A-894A-AFF9-5D99449160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6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40"/>
          <c:min val="181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6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409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3D6BE4">
              <a:alpha val="20000"/>
            </a:srgbClr>
          </a:solidFill>
          <a:ln w="12700">
            <a:solidFill>
              <a:srgbClr val="3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182880"/>
            <a:ext cx="2286000" cy="2286000"/>
          </a:xfrm>
          <a:prstGeom prst="ellipse">
            <a:avLst/>
          </a:prstGeom>
          <a:solidFill>
            <a:srgbClr val="2EC4B6">
              <a:alpha val="30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3D6BE4">
              <a:alpha val="15000"/>
            </a:srgbClr>
          </a:solidFill>
          <a:ln w="12700">
            <a:solidFill>
              <a:srgbClr val="3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 — Case Study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Environmental Factors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Ecosystem Stress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— Forest Fires Dataset (UCI)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462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bin Salem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736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UAEU · College of Business and Economics · April 1,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Data?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411480" cy="50292"/>
          </a:xfrm>
          <a:prstGeom prst="rect">
            <a:avLst/>
          </a:prstGeom>
          <a:solidFill>
            <a:srgbClr val="3D6BE4"/>
          </a:solidFill>
          <a:ln w="12700">
            <a:solidFill>
              <a:srgbClr val="3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638099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Fires dataset — 517 fire events from Montesinho Park, Portugal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59536"/>
            <a:ext cx="8321040" cy="22860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1920240" cy="1143000"/>
          </a:xfrm>
          <a:prstGeom prst="rect">
            <a:avLst/>
          </a:prstGeom>
          <a:solidFill>
            <a:srgbClr val="E8EEFB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920240" cy="64008"/>
          </a:xfrm>
          <a:prstGeom prst="rect">
            <a:avLst/>
          </a:prstGeom>
          <a:solidFill>
            <a:srgbClr val="3D6BE4"/>
          </a:solidFill>
          <a:ln w="12700">
            <a:solidFill>
              <a:srgbClr val="3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1792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events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7752" y="1115568"/>
            <a:ext cx="1920240" cy="1143000"/>
          </a:xfrm>
          <a:prstGeom prst="rect">
            <a:avLst/>
          </a:prstGeom>
          <a:solidFill>
            <a:srgbClr val="E8EEFB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87752" y="1115568"/>
            <a:ext cx="192024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87752" y="12252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87752" y="1792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64024" y="1115568"/>
            <a:ext cx="1920240" cy="1143000"/>
          </a:xfrm>
          <a:prstGeom prst="rect">
            <a:avLst/>
          </a:prstGeom>
          <a:solidFill>
            <a:srgbClr val="E8EEFB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64024" y="1115568"/>
            <a:ext cx="192024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64024" y="12252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64024" y="1792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0296" y="1115568"/>
            <a:ext cx="1920240" cy="1143000"/>
          </a:xfrm>
          <a:prstGeom prst="rect">
            <a:avLst/>
          </a:prstGeom>
          <a:solidFill>
            <a:srgbClr val="E8EEFB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0296" y="1115568"/>
            <a:ext cx="19202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0296" y="12252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40296" y="1792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area (ha)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331720"/>
            <a:ext cx="39776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 Predictors (Independent)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761488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FFMC — Fine Fuel Moisture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  — Duff Moisture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  — Drought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 — Initial Spread Index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— Temperature (°C)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  — Relative Humidity (%)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— Wind Speed (km/h)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— Rainfall (mm)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331720"/>
            <a:ext cx="40690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Response (Dependent)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 Area (ha)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12724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right-skewed — most fires burned 0 ha, a few burned 1,000+ ha.
</a:t>
            </a:r>
            <a:r>
              <a:rPr lang="en-US" sz="10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</a:t>
            </a:r>
            <a:r>
              <a:rPr lang="en-US" sz="1000" b="1" dirty="0">
                <a:solidFill>
                  <a:srgbClr val="3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log(area + 1)</a:t>
            </a: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make the distribution usable for regression.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Cortez &amp; Morais (2007) — UCI ML Repository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411480" cy="50292"/>
          </a:xfrm>
          <a:prstGeom prst="rect">
            <a:avLst/>
          </a:prstGeom>
          <a:solidFill>
            <a:srgbClr val="3D6BE4"/>
          </a:solidFill>
          <a:ln w="12700">
            <a:solidFill>
              <a:srgbClr val="3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638099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transformation, and correlations between variables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59536"/>
            <a:ext cx="8321040" cy="22860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005840"/>
          <a:ext cx="23774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2926080" y="1005840"/>
          <a:ext cx="23774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11480" y="3017520"/>
            <a:ext cx="4892040" cy="502920"/>
          </a:xfrm>
          <a:prstGeom prst="rect">
            <a:avLst/>
          </a:prstGeom>
          <a:solidFill>
            <a:srgbClr val="E8EEFB"/>
          </a:solidFill>
          <a:ln w="6350">
            <a:solidFill>
              <a:srgbClr val="C0C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48640" y="3063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log transformation compresses extreme values and makes the distribution closer to normal — a key OLS requirement.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486400" y="1005840"/>
            <a:ext cx="324612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623560" y="10789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with log_area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353312"/>
          <a:ext cx="3108960" cy="2011681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Notable pair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DMC–DC: 0.68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DC–DMC: 0.68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temp–RH: −0.53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RH–temp: −0.53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5486400" y="3611880"/>
            <a:ext cx="3246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623560" y="3685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5623560" y="3931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variable is strongly correlated with the response — burned area is tough to predict from weather alone. Highest r is only 0.07.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Model —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411480" cy="50292"/>
          </a:xfrm>
          <a:prstGeom prst="rect">
            <a:avLst/>
          </a:prstGeom>
          <a:solidFill>
            <a:srgbClr val="3D6BE4"/>
          </a:solidFill>
          <a:ln w="12700">
            <a:solidFill>
              <a:srgbClr val="3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628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predictors, OLS on log(area+1), N = 517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59536"/>
            <a:ext cx="8321040" cy="22860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8321040" cy="438912"/>
          </a:xfrm>
          <a:prstGeom prst="rect">
            <a:avLst/>
          </a:prstGeom>
          <a:solidFill>
            <a:srgbClr val="2B3A67"/>
          </a:solidFill>
          <a:ln w="12700">
            <a:solidFill>
              <a:srgbClr val="2B3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log(area+1)  =  0.222 + 0.008·FFMC + 0.001·DMC + 0.0003·DC − 0.024·ISI + 0.002·temp − 0.005·RH + 0.076·wind* + 0.097·rain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5166360" cy="31546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(Intercept)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FFMC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−1.415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97880" y="1508760"/>
            <a:ext cx="2834640" cy="1783080"/>
          </a:xfrm>
          <a:prstGeom prst="rect">
            <a:avLst/>
          </a:prstGeom>
          <a:solidFill>
            <a:srgbClr val="E8EEFB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3504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19202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52360" y="19202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35040" y="21854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R²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52360" y="21579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35040" y="24505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52360" y="23957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1.288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35040" y="27157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p-value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452360" y="26334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0.247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035040" y="29809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452360" y="287121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1.395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897880" y="3401568"/>
            <a:ext cx="28346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35040" y="3493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mean?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35040" y="3749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wind is significant (p = 0.039). The model explains less than 1% of variance — environmental variables alone aren't enough to predict fire size.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= statistically significant at p &lt; 0.05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Model Assumptions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411480" cy="50292"/>
          </a:xfrm>
          <a:prstGeom prst="rect">
            <a:avLst/>
          </a:prstGeom>
          <a:solidFill>
            <a:srgbClr val="3D6BE4"/>
          </a:solidFill>
          <a:ln w="12700">
            <a:solidFill>
              <a:srgbClr val="3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628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(VIF), normality, and homoscedasticity tests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59536"/>
            <a:ext cx="8321040" cy="22860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987552"/>
          <a:ext cx="4663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3767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VIF &lt; 5 is fine, &gt; 10 is a serious problem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303520" y="987552"/>
            <a:ext cx="3429000" cy="868680"/>
          </a:xfrm>
          <a:prstGeom prst="rect">
            <a:avLst/>
          </a:prstGeom>
          <a:solidFill>
            <a:srgbClr val="EDFAF2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303520" y="987552"/>
            <a:ext cx="54864" cy="868680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13248" y="1042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13248" y="13075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Breusch-Pagan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13248" y="1536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= 11.27, p = 0.187 · No heteroscedasticity problem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303520" y="1975104"/>
            <a:ext cx="3429000" cy="868680"/>
          </a:xfrm>
          <a:prstGeom prst="rect">
            <a:avLst/>
          </a:prstGeom>
          <a:solidFill>
            <a:srgbClr val="FEF0EE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303520" y="1975104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13248" y="2029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13248" y="22951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13248" y="2523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0.854, p &lt; 2.2e−16 · Residuals are non-normal (heavy tail)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303520" y="2962656"/>
            <a:ext cx="3429000" cy="868680"/>
          </a:xfrm>
          <a:prstGeom prst="rect">
            <a:avLst/>
          </a:prstGeom>
          <a:solidFill>
            <a:srgbClr val="EDFAF2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303520" y="2962656"/>
            <a:ext cx="54864" cy="868680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13248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13248" y="32826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(highest)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13248" y="3511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= 2.66 · All predictors below threshold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303520" y="3950208"/>
            <a:ext cx="3429000" cy="868680"/>
          </a:xfrm>
          <a:prstGeom prst="rect">
            <a:avLst/>
          </a:prstGeom>
          <a:solidFill>
            <a:srgbClr val="FEF7EC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303520" y="3950208"/>
            <a:ext cx="54864" cy="868680"/>
          </a:xfrm>
          <a:prstGeom prst="rect">
            <a:avLst/>
          </a:prstGeom>
          <a:solidFill>
            <a:srgbClr val="B7600A"/>
          </a:solidFill>
          <a:ln w="12700">
            <a:solidFill>
              <a:srgbClr val="B76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13248" y="4005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WARN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13248" y="42702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 Fitted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13248" y="4498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Fan-shaped pattern · Slight heteroscedastic tendency visible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Non-normality of residuals is expected here — the log transform helps but extreme fires still affect the tail. With N=517 the CLT protects our inference.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Is Best?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411480" cy="50292"/>
          </a:xfrm>
          <a:prstGeom prst="rect">
            <a:avLst/>
          </a:prstGeom>
          <a:solidFill>
            <a:srgbClr val="3D6BE4"/>
          </a:solidFill>
          <a:ln w="12700">
            <a:solidFill>
              <a:srgbClr val="3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628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full model, time controls, interaction term, and stepwise selection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59536"/>
            <a:ext cx="8321040" cy="22860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987552"/>
          <a:ext cx="43891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987552"/>
            <a:ext cx="37033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166360" y="1078992"/>
            <a:ext cx="1188720" cy="246888"/>
          </a:xfrm>
          <a:prstGeom prst="roundRect">
            <a:avLst>
              <a:gd name="adj" fmla="val 2963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66360" y="107899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66360" y="1399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Result (stepAIC)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74920" y="1719072"/>
            <a:ext cx="3566160" cy="384048"/>
          </a:xfrm>
          <a:prstGeom prst="rect">
            <a:avLst/>
          </a:prstGeom>
          <a:solidFill>
            <a:srgbClr val="2B3A67"/>
          </a:solidFill>
          <a:ln w="12700">
            <a:solidFill>
              <a:srgbClr val="2B3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20640" y="17190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log(area+1) = 0.913 + 0.00175·DMC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− 0.00558·RH + 0.0624·wind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2148840"/>
          <a:ext cx="3520440" cy="1234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(Intercept)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 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0.070 .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0.071 .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11480" y="3703320"/>
            <a:ext cx="8321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48640" y="37673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Compared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005072"/>
          <a:ext cx="8321040" cy="1143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0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R²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(8 pred.)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Controls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Stepwise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AIC/BIC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It Predict?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411480" cy="50292"/>
          </a:xfrm>
          <a:prstGeom prst="rect">
            <a:avLst/>
          </a:prstGeom>
          <a:solidFill>
            <a:srgbClr val="3D6BE4"/>
          </a:solidFill>
          <a:ln w="12700">
            <a:solidFill>
              <a:srgbClr val="3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628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(80/20) using the caret package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59536"/>
            <a:ext cx="8321040" cy="22860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2651760" cy="1051560"/>
          </a:xfrm>
          <a:prstGeom prst="rect">
            <a:avLst/>
          </a:prstGeom>
          <a:solidFill>
            <a:srgbClr val="E8EEFB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</a:t>
            </a: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416 obs (80%)
</a:t>
            </a:r>
            <a:r>
              <a:rPr lang="en-US" sz="10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r>
              <a:rPr lang="en-US" sz="10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obs (20%)
</a:t>
            </a:r>
            <a:r>
              <a:rPr lang="en-US" sz="10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set.seed(202031137)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987552"/>
            <a:ext cx="2651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987552"/>
            <a:ext cx="2651760" cy="64008"/>
          </a:xfrm>
          <a:prstGeom prst="rect">
            <a:avLst/>
          </a:prstGeom>
          <a:solidFill>
            <a:srgbClr val="3D6BE4"/>
          </a:solidFill>
          <a:ln w="12700">
            <a:solidFill>
              <a:srgbClr val="3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078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1664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(test set) — log scale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987552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987552"/>
            <a:ext cx="260604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0789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(test set) — log scale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212848"/>
            <a:ext cx="41148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Model Coefficients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3931920" cy="2057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FFMC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−0.02989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0.088 .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 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−0.89116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709160" y="2212848"/>
            <a:ext cx="40233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46320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these numbers mean?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46320" y="2606040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1.71 on log scale → roughly ±5.5 ha error on original scale.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1.30 → average error ≈ 3.7 ha. Big uncertainty for large fires.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is still the only significant predictor in training too (p = 0.037).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R² (≈ 2%) confirms the model is weak — weather data alone can't fully explain fire size.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well-known challenge in fire science literature.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3D6BE4">
              <a:alpha val="15000"/>
            </a:srgbClr>
          </a:solidFill>
          <a:ln w="12700">
            <a:solidFill>
              <a:srgbClr val="3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4114800" cy="1170432"/>
          </a:xfrm>
          <a:prstGeom prst="rect">
            <a:avLst/>
          </a:prstGeom>
          <a:solidFill>
            <a:srgbClr val="1E2D56"/>
          </a:solidFill>
          <a:ln w="6350">
            <a:solidFill>
              <a:srgbClr val="3D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005840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0058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is the #1 predictor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51560" y="130759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variable significant across all models (β = 0.076, p = 0.039). Higher wind → bigger fires.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4114800" cy="1170432"/>
          </a:xfrm>
          <a:prstGeom prst="rect">
            <a:avLst/>
          </a:prstGeom>
          <a:solidFill>
            <a:srgbClr val="1E2D56"/>
          </a:solidFill>
          <a:ln w="6350">
            <a:solidFill>
              <a:srgbClr val="3D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2304288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3042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gives the cleanest 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 + RH + wind retained. Lowest AIC (1815) and BIC (1837) of all candidates.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4114800" cy="1170432"/>
          </a:xfrm>
          <a:prstGeom prst="rect">
            <a:avLst/>
          </a:prstGeom>
          <a:solidFill>
            <a:srgbClr val="1E2D56"/>
          </a:solidFill>
          <a:ln w="6350">
            <a:solidFill>
              <a:srgbClr val="3D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" y="3602736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6027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multicollinearity issues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51560" y="3904488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VIF values &lt; 5. The weak R² is a real data problem, not a statistics artifact.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896112"/>
            <a:ext cx="4114800" cy="1170432"/>
          </a:xfrm>
          <a:prstGeom prst="rect">
            <a:avLst/>
          </a:prstGeom>
          <a:solidFill>
            <a:srgbClr val="1E2D56"/>
          </a:solidFill>
          <a:ln w="6350">
            <a:solidFill>
              <a:srgbClr val="3D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64608" y="1005840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4608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10058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tests mostly pass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49240" y="130759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Homoscedasticity holds (BP p = 0.187). Normality fails (SW p &lt; 2.2e-16) — expected with fire data.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194560"/>
            <a:ext cx="4114800" cy="1170432"/>
          </a:xfrm>
          <a:prstGeom prst="rect">
            <a:avLst/>
          </a:prstGeom>
          <a:solidFill>
            <a:srgbClr val="1E2D56"/>
          </a:solidFill>
          <a:ln w="6350">
            <a:solidFill>
              <a:srgbClr val="3D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64608" y="2304288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23042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has real limitations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49240" y="2606040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1.71, MAE = 1.30 on log scale. Need spatial/topographic data to predict fire size well.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9103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 · Mohammed bin Salem · UAEU · Spring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1051</Words>
  <Application>Microsoft Macintosh PowerPoint</Application>
  <PresentationFormat>On-screen Show (16:9)</PresentationFormat>
  <Paragraphs>257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5 – Multiple Regression</dc:title>
  <dc:subject>PptxGenJS Presentation</dc:subject>
  <dc:creator>Mohammed bin Salem</dc:creator>
  <cp:lastModifiedBy>Mohammed Abobaker Baobaid</cp:lastModifiedBy>
  <cp:revision>1</cp:revision>
  <dcterms:created xsi:type="dcterms:W3CDTF">2026-04-01T08:44:37Z</dcterms:created>
  <dcterms:modified xsi:type="dcterms:W3CDTF">2026-04-01T08:47:26Z</dcterms:modified>
</cp:coreProperties>
</file>