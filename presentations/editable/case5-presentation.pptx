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0000"/>
                </a:solidFill>
                <a:latin typeface="Arial"/>
              </a:rPr>
              <a:t>Original area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0–50</c:v>
                  </c:pt>
                  <c:pt idx="1">
                    <c:v>50–200</c:v>
                  </c:pt>
                  <c:pt idx="2">
                    <c:v>200–400</c:v>
                  </c:pt>
                  <c:pt idx="3">
                    <c:v>400–600</c:v>
                  </c:pt>
                  <c:pt idx="4">
                    <c:v>600+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12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0000"/>
                </a:solidFill>
                <a:latin typeface="Arial"/>
              </a:rPr>
              <a:t>log(area + 1)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260</c:v>
                </c:pt>
                <c:pt idx="1">
                  <c:v>48</c:v>
                </c:pt>
                <c:pt idx="2">
                  <c:v>45</c:v>
                </c:pt>
                <c:pt idx="3">
                  <c:v>50</c:v>
                </c:pt>
                <c:pt idx="4">
                  <c:v>27</c:v>
                </c:pt>
                <c:pt idx="5">
                  <c:v>16</c:v>
                </c:pt>
                <c:pt idx="6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Variance Inflation Factors (VIF)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VIF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FFMC</c:v>
                  </c:pt>
                  <c:pt idx="1">
                    <c:v>DMC</c:v>
                  </c:pt>
                  <c:pt idx="2">
                    <c:v>DC</c:v>
                  </c:pt>
                  <c:pt idx="3">
                    <c:v>ISI</c:v>
                  </c:pt>
                  <c:pt idx="4">
                    <c:v>temp</c:v>
                  </c:pt>
                  <c:pt idx="5">
                    <c:v>RH</c:v>
                  </c:pt>
                  <c:pt idx="6">
                    <c:v>wind</c:v>
                  </c:pt>
                  <c:pt idx="7">
                    <c:v>rain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1.7</c:v>
                </c:pt>
                <c:pt idx="1">
                  <c:v>2.33</c:v>
                </c:pt>
                <c:pt idx="2">
                  <c:v>2.08</c:v>
                </c:pt>
                <c:pt idx="3">
                  <c:v>1.58</c:v>
                </c:pt>
                <c:pt idx="4">
                  <c:v>2.66</c:v>
                </c:pt>
                <c:pt idx="5">
                  <c:v>1.9</c:v>
                </c:pt>
                <c:pt idx="6">
                  <c:v>1.14</c:v>
                </c:pt>
                <c:pt idx="7">
                  <c:v>1.04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AIC by Model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AIC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Full Model
(8 pred.)</c:v>
                  </c:pt>
                  <c:pt idx="1">
                    <c:v>Time Controls
(+month/day)</c:v>
                  </c:pt>
                  <c:pt idx="2">
                    <c:v>Interaction
(temp×RH)</c:v>
                  </c:pt>
                  <c:pt idx="3">
                    <c:v>Stepwise
(DMC+RH+wind)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1823</c:v>
                </c:pt>
                <c:pt idx="1">
                  <c:v>1830</c:v>
                </c:pt>
                <c:pt idx="2">
                  <c:v>1824</c:v>
                </c:pt>
                <c:pt idx="3">
                  <c:v>1816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40"/>
          <c:min val="181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E07B39">
              <a:alpha val="30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3474720"/>
            <a:ext cx="2011680" cy="2011680"/>
          </a:xfrm>
          <a:prstGeom prst="ellipse">
            <a:avLst/>
          </a:prstGeom>
          <a:solidFill>
            <a:srgbClr val="1A2E1A">
              <a:alpha val="50000"/>
            </a:srgbClr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in Analytics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13716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Salem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1,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UAEU · College of Business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Economics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60520" y="54864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the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on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Stress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160520" y="3520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Multiple Regression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60520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5 — Forest Fires Dataset (UCI ML Repository)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Glance: Forest Fires (N = 517)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54864" cy="10972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801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" y="17373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events recorded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97510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18872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88720"/>
            <a:ext cx="54864" cy="10972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2801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78608" y="17373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variables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78608" y="197510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18872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188720"/>
            <a:ext cx="54864" cy="10972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12801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27448" y="17373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dataset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7448" y="197510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18872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188720"/>
            <a:ext cx="54864" cy="10972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12801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76288" y="17373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burned area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76288" y="197510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(mean)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14600"/>
          <a:ext cx="8503920" cy="22860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463040"/>
                <a:gridCol w="1463040"/>
                <a:gridCol w="1828800"/>
              </a:tblGrid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(°C)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(km/h)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547.9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(ha)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1090.84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ML Repository — Forest Fires dataset (Cortez &amp; Morais, 2007)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Transformation &amp; Predictor Correlations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148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Variable: Burned Area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area: </a:t>
            </a:r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right-skewed. Mean = 12.85 ha, Median = 0.52 ha, Max = 1,090.84 ha. Over 50% of fires burned zero measurable area.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374904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applied: </a:t>
            </a:r>
            <a:pPr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log(area + 1)</a:t>
            </a:r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normalises distribution, compresses extreme values, satisfies OLS assumption of near-normality.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20040" y="3337560"/>
          <a:ext cx="192024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2377440" y="3337560"/>
          <a:ext cx="192024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4663440" y="1143000"/>
            <a:ext cx="41605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006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 with log_area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572768"/>
          <a:ext cx="4023360" cy="315468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737360"/>
              </a:tblGrid>
              <a:tr h="3943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with log_area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Notable inter-correlation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7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DMC–DC: 0.68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7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temp–RH: −0.53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7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RH–temp: −0.53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FFMC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7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FFMC–ISI: 0.53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7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DC–DMC: 0.68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OLS Regression Model Results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log(area + 1)  =  0.222 + 0.008·FFMC + 0.001·DMC + 0.0003·DC − 0.024·ISI + 0.002·temp − 0.005·RH + 0.076·wind* + 0.097·rain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91640"/>
          <a:ext cx="5577840" cy="315468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822960"/>
                <a:gridCol w="822960"/>
                <a:gridCol w="548640"/>
              </a:tblGrid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(Intercept)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FFMC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080760" y="1691640"/>
            <a:ext cx="26974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0" y="1783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 Summary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148840"/>
            <a:ext cx="2468880" cy="347472"/>
          </a:xfrm>
          <a:prstGeom prst="rect">
            <a:avLst/>
          </a:prstGeom>
          <a:solidFill>
            <a:srgbClr val="EEF4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2185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98080" y="21854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0.0199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17920" y="2578608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91072" y="2615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98080" y="2615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17920" y="3008376"/>
            <a:ext cx="2468880" cy="347472"/>
          </a:xfrm>
          <a:prstGeom prst="rect">
            <a:avLst/>
          </a:prstGeom>
          <a:solidFill>
            <a:srgbClr val="EEF4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91072" y="3044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498080" y="3044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1.288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17920" y="3438144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1072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p-value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498080" y="3474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0.247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17920" y="3867912"/>
            <a:ext cx="2468880" cy="347472"/>
          </a:xfrm>
          <a:prstGeom prst="rect">
            <a:avLst/>
          </a:prstGeom>
          <a:solidFill>
            <a:srgbClr val="EEF4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3904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498080" y="39044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1.395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4297680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91072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(residual)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498080" y="43342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 &lt; 0.05   Wind is the only significant predictor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&amp; Model Assumption Tests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143000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9319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5  ↑  Concern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257800" y="1143000"/>
            <a:ext cx="35661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94960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Tests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49240" y="1664208"/>
            <a:ext cx="3337560" cy="457200"/>
          </a:xfrm>
          <a:prstGeom prst="rect">
            <a:avLst/>
          </a:prstGeom>
          <a:solidFill>
            <a:srgbClr val="EEF4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76672" y="1719072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2C7A2C"/>
          </a:solidFill>
          <a:ln w="12700">
            <a:solidFill>
              <a:srgbClr val="2C7A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76672" y="17190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943600" y="16916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Breusch-Pagan Test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1892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BP=11.27, p=0.187 · No significant heteroscedasticity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349240" y="2212848"/>
            <a:ext cx="3337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76672" y="2267712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6672" y="22677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943600" y="22402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Test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0" y="24414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W=0.854, p&lt;2.2e-16 · Residuals non-normal (heavy right tail)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349240" y="2761488"/>
            <a:ext cx="3337560" cy="457200"/>
          </a:xfrm>
          <a:prstGeom prst="rect">
            <a:avLst/>
          </a:prstGeom>
          <a:solidFill>
            <a:srgbClr val="EEF4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76672" y="2816352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2C7A2C"/>
          </a:solidFill>
          <a:ln w="12700">
            <a:solidFill>
              <a:srgbClr val="2C7A2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76672" y="2816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943600" y="27889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(max)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943600" y="2990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= 2.66 · All predictors VIF &lt; 5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349240" y="3310128"/>
            <a:ext cx="3337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76672" y="3364992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C87A00"/>
          </a:solidFill>
          <a:ln w="12700">
            <a:solidFill>
              <a:srgbClr val="C87A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76672" y="33649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943600" y="33375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 Fitted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943600" y="35387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fan-shaped · Some heteroscedastic tendency visible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20040" y="42062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No multicollinearity issue (all VIF &lt; 5). Homoscedasticity holds formally. Non-normality of residuals noted — standard errors remain asymptotically valid at N=517.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Stepwise Regression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143000"/>
          <a:ext cx="46634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166360" y="1143000"/>
            <a:ext cx="36576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03520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Model (Best AIC = 1815.52)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57800" y="1572768"/>
            <a:ext cx="3474720" cy="384048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0" y="15727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log(area+1) = 0.913 + 0.00175·DMC − 0.00558·RH + 0.0624·wind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2011680"/>
          <a:ext cx="3474720" cy="150876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0972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(Intercept)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6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0.070 .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0.071 .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3749040"/>
            <a:ext cx="8503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7200" y="3813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Summary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41648"/>
          <a:ext cx="8503920" cy="877824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914400"/>
                <a:gridCol w="914400"/>
                <a:gridCol w="1097280"/>
                <a:gridCol w="2103120"/>
              </a:tblGrid>
              <a:tr h="175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R²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p-value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175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(8 pred.)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5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Controls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175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5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Stepwise (DMC+RH+wind)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AIC/BIC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Validation: Train/Test Split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set: </a:t>
            </a:r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 →  416 observations
</a:t>
            </a:r>
            <a:pPr indent="0" marL="0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</a:t>
            </a:r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→  101 observations
</a:t>
            </a:r>
            <a:pPr indent="0" marL="0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(caret)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5603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43000"/>
            <a:ext cx="54864" cy="12801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2344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47288" y="16916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log(area+1) scale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47288" y="19293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(test set)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54864" cy="12801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23444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36208" y="169164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log(area+1) scale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36208" y="192938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(test set)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606040"/>
            <a:ext cx="4114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Model — Key Coefficients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99232"/>
          <a:ext cx="3931920" cy="178308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463040"/>
              </a:tblGrid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FFMC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-0.02989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0.088 .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-0.00298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 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-0.89116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663440" y="2606040"/>
            <a:ext cx="4160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0060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Interpretation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00600" y="2999232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1.71 on log scale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Corresponds to ~±e¹·⁷¹ ≈ ±5.5 ha prediction error on original scale.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1.30 on log scale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error ≈ e¹·³⁰ ≈ 3.7 ha — substantial uncertainty.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remains significant (p=0.037) in training set, consistent with full model.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R² reflects genuine limit of meteorological-only models for fire extent prediction.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Managerial Implications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36576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92608" cy="29260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2618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is the sole statistically significant predictor across all models (β=0.076, p=0.039).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29384"/>
            <a:ext cx="292608" cy="29260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9293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selection retains DMC, RH, and wind as the best parsimonious model (AIC=1815, BIC=1837).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596896"/>
            <a:ext cx="292608" cy="29260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25968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VIF values &lt; 5 — no multicollinearity concern.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264408"/>
            <a:ext cx="292608" cy="29260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3232" y="3264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Homoscedasticity holds (BP p=0.187); residuals are non-normal (SW p&lt;2.2e-16).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931920"/>
            <a:ext cx="292608" cy="29260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3232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RMSE=1.71, MAE=1.30 — substantial prediction uncertainty remains.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9144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IMPLICATIONS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207008"/>
            <a:ext cx="3977640" cy="3154680"/>
          </a:xfrm>
          <a:prstGeom prst="rect">
            <a:avLst/>
          </a:prstGeom>
          <a:solidFill>
            <a:srgbClr val="2C5F2D">
              <a:alpha val="7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1325880"/>
            <a:ext cx="45720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32588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Wind-based alert systems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47488" y="15544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fire-risk warnings when wind &gt; 5–6 km/h during drought periods.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075688"/>
            <a:ext cx="45720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0756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DMC-guided prescribed burns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47488" y="23042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controlled burns in winter when DMC is low to reduce deep fuel load.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2825496"/>
            <a:ext cx="45720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282549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resource allocation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47488" y="30540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shows elevated risk in July — concentrate suppression resources mid-summer.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3575304"/>
            <a:ext cx="45720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357530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spatial data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47488" y="38039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GIS/topographic layers to surpass the 2% R² ceiling of meteorological-only models.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· Mohammed bin Salem · UAEU · April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Regression in Biology &amp; Analytics – Case 5</dc:title>
  <dc:subject>PptxGenJS Presentation</dc:subject>
  <dc:creator>Mohammed bin Salem</dc:creator>
  <cp:lastModifiedBy>Mohammed bin Salem</cp:lastModifiedBy>
  <cp:revision>1</cp:revision>
  <dcterms:created xsi:type="dcterms:W3CDTF">2026-04-01T08:33:30Z</dcterms:created>
  <dcterms:modified xsi:type="dcterms:W3CDTF">2026-04-01T08:33:30Z</dcterms:modified>
</cp:coreProperties>
</file>